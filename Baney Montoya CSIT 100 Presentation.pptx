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Nuni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Nunito-bold.fntdata"/><Relationship Id="rId10" Type="http://schemas.openxmlformats.org/officeDocument/2006/relationships/slide" Target="slides/slide5.xml"/><Relationship Id="rId21" Type="http://schemas.openxmlformats.org/officeDocument/2006/relationships/font" Target="fonts/Nunito-regular.fntdata"/><Relationship Id="rId13" Type="http://schemas.openxmlformats.org/officeDocument/2006/relationships/slide" Target="slides/slide8.xml"/><Relationship Id="rId24" Type="http://schemas.openxmlformats.org/officeDocument/2006/relationships/font" Target="fonts/Nunito-boldItalic.fntdata"/><Relationship Id="rId12" Type="http://schemas.openxmlformats.org/officeDocument/2006/relationships/slide" Target="slides/slide7.xml"/><Relationship Id="rId23" Type="http://schemas.openxmlformats.org/officeDocument/2006/relationships/font" Target="fonts/Nuni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65b4560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65b4560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65b45605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65b4560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65b45605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65b45605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65b45605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65b45605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65b45605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65b45605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65b45605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65b45605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65b45605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65b45605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65b45605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65b45605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65b45605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65b45605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65b45605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65b45605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65b45605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65b45605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65b45605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65b45605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65b45605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65b45605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65b45605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65b45605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rgbClr val="FFF2CC"/>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03275" y="-6208"/>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rgbClr val="274E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rgbClr val="274E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rgbClr val="274E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6212"/>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19682" y="421320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203274" y="4077977"/>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6"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50" y="266675"/>
            <a:ext cx="8737500" cy="4731000"/>
          </a:xfrm>
          <a:prstGeom prst="rect">
            <a:avLst/>
          </a:prstGeom>
          <a:solidFill>
            <a:srgbClr val="FFF2CC"/>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Clr>
                <a:srgbClr val="274E13"/>
              </a:buClr>
              <a:buSzPts val="3000"/>
              <a:buNone/>
              <a:defRPr sz="3000">
                <a:solidFill>
                  <a:srgbClr val="274E1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highlight>
                  <a:srgbClr val="FFF2CC"/>
                </a:highlight>
              </a:defRPr>
            </a:lvl1pPr>
            <a:lvl2pPr indent="-298450" lvl="1" marL="914400">
              <a:spcBef>
                <a:spcPts val="0"/>
              </a:spcBef>
              <a:spcAft>
                <a:spcPts val="0"/>
              </a:spcAft>
              <a:buSzPts val="1100"/>
              <a:buChar char="○"/>
              <a:defRPr>
                <a:highlight>
                  <a:srgbClr val="FFF2CC"/>
                </a:highlight>
              </a:defRPr>
            </a:lvl2pPr>
            <a:lvl3pPr indent="-298450" lvl="2" marL="1371600">
              <a:spcBef>
                <a:spcPts val="0"/>
              </a:spcBef>
              <a:spcAft>
                <a:spcPts val="0"/>
              </a:spcAft>
              <a:buSzPts val="1100"/>
              <a:buChar char="■"/>
              <a:defRPr>
                <a:highlight>
                  <a:srgbClr val="FFF2CC"/>
                </a:highlight>
              </a:defRPr>
            </a:lvl3pPr>
            <a:lvl4pPr indent="-298450" lvl="3" marL="1828800">
              <a:spcBef>
                <a:spcPts val="0"/>
              </a:spcBef>
              <a:spcAft>
                <a:spcPts val="0"/>
              </a:spcAft>
              <a:buSzPts val="1100"/>
              <a:buChar char="●"/>
              <a:defRPr>
                <a:highlight>
                  <a:srgbClr val="FFF2CC"/>
                </a:highlight>
              </a:defRPr>
            </a:lvl4pPr>
            <a:lvl5pPr indent="-298450" lvl="4" marL="2286000">
              <a:spcBef>
                <a:spcPts val="0"/>
              </a:spcBef>
              <a:spcAft>
                <a:spcPts val="0"/>
              </a:spcAft>
              <a:buSzPts val="1100"/>
              <a:buChar char="○"/>
              <a:defRPr>
                <a:highlight>
                  <a:srgbClr val="FFF2CC"/>
                </a:highlight>
              </a:defRPr>
            </a:lvl5pPr>
            <a:lvl6pPr indent="-298450" lvl="5" marL="2743200">
              <a:spcBef>
                <a:spcPts val="0"/>
              </a:spcBef>
              <a:spcAft>
                <a:spcPts val="0"/>
              </a:spcAft>
              <a:buSzPts val="1100"/>
              <a:buChar char="■"/>
              <a:defRPr>
                <a:highlight>
                  <a:srgbClr val="FFF2CC"/>
                </a:highlight>
              </a:defRPr>
            </a:lvl6pPr>
            <a:lvl7pPr indent="-298450" lvl="6" marL="3200400">
              <a:spcBef>
                <a:spcPts val="0"/>
              </a:spcBef>
              <a:spcAft>
                <a:spcPts val="0"/>
              </a:spcAft>
              <a:buSzPts val="1100"/>
              <a:buChar char="●"/>
              <a:defRPr>
                <a:highlight>
                  <a:srgbClr val="FFF2CC"/>
                </a:highlight>
              </a:defRPr>
            </a:lvl7pPr>
            <a:lvl8pPr indent="-298450" lvl="7" marL="3657600">
              <a:spcBef>
                <a:spcPts val="0"/>
              </a:spcBef>
              <a:spcAft>
                <a:spcPts val="0"/>
              </a:spcAft>
              <a:buSzPts val="1100"/>
              <a:buChar char="○"/>
              <a:defRPr>
                <a:highlight>
                  <a:srgbClr val="FFF2CC"/>
                </a:highlight>
              </a:defRPr>
            </a:lvl8pPr>
            <a:lvl9pPr indent="-298450" lvl="8" marL="4114800">
              <a:spcBef>
                <a:spcPts val="0"/>
              </a:spcBef>
              <a:spcAft>
                <a:spcPts val="0"/>
              </a:spcAft>
              <a:buSzPts val="1100"/>
              <a:buChar char="■"/>
              <a:defRPr>
                <a:highlight>
                  <a:srgbClr val="FFF2CC"/>
                </a:highlight>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6" y="2884925"/>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rgbClr val="FFF2CC"/>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6"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rgbClr val="FFF2CC"/>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Clr>
                <a:srgbClr val="274E13"/>
              </a:buClr>
              <a:buSzPts val="3000"/>
              <a:buNone/>
              <a:defRPr sz="3000">
                <a:solidFill>
                  <a:srgbClr val="274E1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E13"/>
        </a:solidFill>
      </p:bgPr>
    </p:bg>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0" y="1322325"/>
            <a:ext cx="5361300" cy="1948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How Technology Transformed Art: From Cel Animation to Modern Digital Media</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2"/>
                </a:solidFill>
              </a:rPr>
              <a:t>Baney Montoya CSIT 100 11/24/25</a:t>
            </a:r>
            <a:endParaRPr>
              <a:solidFill>
                <a:schemeClr val="dk2"/>
              </a:solidFill>
            </a:endParaRPr>
          </a:p>
        </p:txBody>
      </p:sp>
      <p:sp>
        <p:nvSpPr>
          <p:cNvPr id="130" name="Google Shape;130;p13"/>
          <p:cNvSpPr txBox="1"/>
          <p:nvPr/>
        </p:nvSpPr>
        <p:spPr>
          <a:xfrm>
            <a:off x="2497750" y="4442350"/>
            <a:ext cx="4978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210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136" name="Google Shape;136;p14"/>
          <p:cNvSpPr txBox="1"/>
          <p:nvPr>
            <p:ph idx="1" type="body"/>
          </p:nvPr>
        </p:nvSpPr>
        <p:spPr>
          <a:xfrm>
            <a:off x="683775" y="1636275"/>
            <a:ext cx="3709200" cy="21198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1200"/>
              </a:spcAft>
              <a:buNone/>
            </a:pPr>
            <a:r>
              <a:rPr lang="en" sz="2400">
                <a:solidFill>
                  <a:srgbClr val="000000"/>
                </a:solidFill>
                <a:highlight>
                  <a:srgbClr val="FFF2CC"/>
                </a:highlight>
              </a:rPr>
              <a:t>Throughout the twentieth and twenty-first centuries, technology has transformed how art is created, shared, and understood. The shift from hand-drawn cel animation to digital media shows how artistic methods continuously adapt as new tools emerge.</a:t>
            </a:r>
            <a:endParaRPr>
              <a:highlight>
                <a:srgbClr val="FFF2CC"/>
              </a:highlight>
            </a:endParaRPr>
          </a:p>
        </p:txBody>
      </p:sp>
      <p:pic>
        <p:nvPicPr>
          <p:cNvPr id="137" name="Google Shape;137;p14" title="JPEG image.jpeg"/>
          <p:cNvPicPr preferRelativeResize="0"/>
          <p:nvPr/>
        </p:nvPicPr>
        <p:blipFill>
          <a:blip r:embed="rId3">
            <a:alphaModFix/>
          </a:blip>
          <a:stretch>
            <a:fillRect/>
          </a:stretch>
        </p:blipFill>
        <p:spPr>
          <a:xfrm>
            <a:off x="4458950" y="1258650"/>
            <a:ext cx="4299302" cy="24183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Early Animation Technology</a:t>
            </a:r>
            <a:endParaRPr/>
          </a:p>
        </p:txBody>
      </p:sp>
      <p:sp>
        <p:nvSpPr>
          <p:cNvPr id="143" name="Google Shape;143;p15"/>
          <p:cNvSpPr txBox="1"/>
          <p:nvPr>
            <p:ph idx="1" type="body"/>
          </p:nvPr>
        </p:nvSpPr>
        <p:spPr>
          <a:xfrm>
            <a:off x="819150" y="1990725"/>
            <a:ext cx="3940800" cy="244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sz="2400">
                <a:solidFill>
                  <a:srgbClr val="000000"/>
                </a:solidFill>
              </a:rPr>
              <a:t>Early animation relied on cel animation, where artists drew thousands of images on transparent sheets. This method allowed layers to be photographed together one frame at a time, creating motion through painstaking manual labor and early mechanical technology.</a:t>
            </a:r>
            <a:endParaRPr/>
          </a:p>
        </p:txBody>
      </p:sp>
      <p:pic>
        <p:nvPicPr>
          <p:cNvPr id="144" name="Google Shape;144;p15" title="JPEG image.jpeg"/>
          <p:cNvPicPr preferRelativeResize="0"/>
          <p:nvPr/>
        </p:nvPicPr>
        <p:blipFill>
          <a:blip r:embed="rId3">
            <a:alphaModFix/>
          </a:blip>
          <a:stretch>
            <a:fillRect/>
          </a:stretch>
        </p:blipFill>
        <p:spPr>
          <a:xfrm>
            <a:off x="4572000" y="1601950"/>
            <a:ext cx="4278150" cy="24064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Cel Animation In Practice</a:t>
            </a:r>
            <a:endParaRPr/>
          </a:p>
        </p:txBody>
      </p:sp>
      <p:sp>
        <p:nvSpPr>
          <p:cNvPr id="150" name="Google Shape;150;p16"/>
          <p:cNvSpPr txBox="1"/>
          <p:nvPr>
            <p:ph idx="1" type="body"/>
          </p:nvPr>
        </p:nvSpPr>
        <p:spPr>
          <a:xfrm>
            <a:off x="819150" y="1990725"/>
            <a:ext cx="3753000" cy="24480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Clr>
                <a:schemeClr val="dk1"/>
              </a:buClr>
              <a:buSzPct val="45833"/>
              <a:buFont typeface="Arial"/>
              <a:buNone/>
            </a:pPr>
            <a:r>
              <a:rPr lang="en" sz="2400">
                <a:solidFill>
                  <a:srgbClr val="000000"/>
                </a:solidFill>
              </a:rPr>
              <a:t>Cel animation demanded exceptional artistic skill and precise coordination. Studios like Disney used techniques such as the multiplane camera to add depth, but the process still required thousands of drawings, complex lighting setups, and large teams of artists.</a:t>
            </a:r>
            <a:endParaRPr sz="900">
              <a:latin typeface="Times New Roman"/>
              <a:ea typeface="Times New Roman"/>
              <a:cs typeface="Times New Roman"/>
              <a:sym typeface="Times New Roman"/>
            </a:endParaRPr>
          </a:p>
          <a:p>
            <a:pPr indent="0" lvl="0" marL="0" rtl="0" algn="l">
              <a:spcBef>
                <a:spcPts val="1100"/>
              </a:spcBef>
              <a:spcAft>
                <a:spcPts val="1200"/>
              </a:spcAft>
              <a:buNone/>
            </a:pPr>
            <a:r>
              <a:t/>
            </a:r>
            <a:endParaRPr/>
          </a:p>
        </p:txBody>
      </p:sp>
      <p:pic>
        <p:nvPicPr>
          <p:cNvPr id="151" name="Google Shape;151;p16" title="JPEG image.jpeg"/>
          <p:cNvPicPr preferRelativeResize="0"/>
          <p:nvPr/>
        </p:nvPicPr>
        <p:blipFill>
          <a:blip r:embed="rId3">
            <a:alphaModFix/>
          </a:blip>
          <a:stretch>
            <a:fillRect/>
          </a:stretch>
        </p:blipFill>
        <p:spPr>
          <a:xfrm>
            <a:off x="5450950" y="845600"/>
            <a:ext cx="2996008" cy="3993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Limits of Traditional Techniques</a:t>
            </a:r>
            <a:endParaRPr/>
          </a:p>
        </p:txBody>
      </p:sp>
      <p:sp>
        <p:nvSpPr>
          <p:cNvPr id="157" name="Google Shape;157;p17"/>
          <p:cNvSpPr txBox="1"/>
          <p:nvPr>
            <p:ph idx="1" type="body"/>
          </p:nvPr>
        </p:nvSpPr>
        <p:spPr>
          <a:xfrm>
            <a:off x="819150" y="1990725"/>
            <a:ext cx="3865500" cy="244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sz="2400">
                <a:solidFill>
                  <a:srgbClr val="000000"/>
                </a:solidFill>
              </a:rPr>
              <a:t>Traditional animation involved costly materials, time-consuming revisions, and enormous labor demands. Even small errors required scenes to be redrawn. These limitations pushed artists and studios to seek more efficient alternatives as digital technology advanced.</a:t>
            </a:r>
            <a:endParaRPr/>
          </a:p>
        </p:txBody>
      </p:sp>
      <p:pic>
        <p:nvPicPr>
          <p:cNvPr id="158" name="Google Shape;158;p17" title="JPEG image.jpeg"/>
          <p:cNvPicPr preferRelativeResize="0"/>
          <p:nvPr/>
        </p:nvPicPr>
        <p:blipFill>
          <a:blip r:embed="rId3">
            <a:alphaModFix/>
          </a:blip>
          <a:stretch>
            <a:fillRect/>
          </a:stretch>
        </p:blipFill>
        <p:spPr>
          <a:xfrm>
            <a:off x="4684650" y="2350075"/>
            <a:ext cx="4151025" cy="2088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Early Computer-</a:t>
            </a:r>
            <a:r>
              <a:rPr lang="en"/>
              <a:t>Assisted</a:t>
            </a:r>
            <a:r>
              <a:rPr lang="en"/>
              <a:t> Animation</a:t>
            </a:r>
            <a:endParaRPr/>
          </a:p>
        </p:txBody>
      </p:sp>
      <p:sp>
        <p:nvSpPr>
          <p:cNvPr id="164" name="Google Shape;164;p18"/>
          <p:cNvSpPr txBox="1"/>
          <p:nvPr>
            <p:ph idx="1" type="body"/>
          </p:nvPr>
        </p:nvSpPr>
        <p:spPr>
          <a:xfrm>
            <a:off x="819150" y="2065875"/>
            <a:ext cx="3753000" cy="244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sz="2400">
                <a:solidFill>
                  <a:srgbClr val="000000"/>
                </a:solidFill>
              </a:rPr>
              <a:t>From the 1960s to the 1980s, pioneers like John Whitney experimented with computer graphics. Though primitive by today’s standards, early digital animation research laid the foundation for integrating computers into creative workflows.</a:t>
            </a:r>
            <a:endParaRPr/>
          </a:p>
        </p:txBody>
      </p:sp>
      <p:pic>
        <p:nvPicPr>
          <p:cNvPr id="165" name="Google Shape;165;p18" title="JPEG image.jpeg"/>
          <p:cNvPicPr preferRelativeResize="0"/>
          <p:nvPr/>
        </p:nvPicPr>
        <p:blipFill>
          <a:blip r:embed="rId3">
            <a:alphaModFix/>
          </a:blip>
          <a:stretch>
            <a:fillRect/>
          </a:stretch>
        </p:blipFill>
        <p:spPr>
          <a:xfrm>
            <a:off x="4733200" y="1995800"/>
            <a:ext cx="3635500" cy="2723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Digital Ink &amp; Paint Systems</a:t>
            </a:r>
            <a:endParaRPr/>
          </a:p>
        </p:txBody>
      </p:sp>
      <p:sp>
        <p:nvSpPr>
          <p:cNvPr id="171" name="Google Shape;171;p19"/>
          <p:cNvSpPr txBox="1"/>
          <p:nvPr>
            <p:ph idx="1" type="body"/>
          </p:nvPr>
        </p:nvSpPr>
        <p:spPr>
          <a:xfrm>
            <a:off x="819150" y="1990725"/>
            <a:ext cx="3890700" cy="244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sz="2400">
                <a:solidFill>
                  <a:srgbClr val="000000"/>
                </a:solidFill>
              </a:rPr>
              <a:t>The development of systems like Disney’s CAPS in the 1980s–1990s revolutionized animation. Artists scanned drawings into computers, applied digital ink and paint, and composited images with new precision, reducing physical labor while enhancing creative control.</a:t>
            </a:r>
            <a:endParaRPr/>
          </a:p>
        </p:txBody>
      </p:sp>
      <p:pic>
        <p:nvPicPr>
          <p:cNvPr id="172" name="Google Shape;172;p19" title="JPEG image.jpeg"/>
          <p:cNvPicPr preferRelativeResize="0"/>
          <p:nvPr/>
        </p:nvPicPr>
        <p:blipFill>
          <a:blip r:embed="rId3">
            <a:alphaModFix/>
          </a:blip>
          <a:stretch>
            <a:fillRect/>
          </a:stretch>
        </p:blipFill>
        <p:spPr>
          <a:xfrm>
            <a:off x="5570950" y="1442725"/>
            <a:ext cx="2449475" cy="325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Rise of CGI</a:t>
            </a:r>
            <a:endParaRPr/>
          </a:p>
        </p:txBody>
      </p:sp>
      <p:sp>
        <p:nvSpPr>
          <p:cNvPr id="178" name="Google Shape;178;p20"/>
          <p:cNvSpPr txBox="1"/>
          <p:nvPr>
            <p:ph idx="1" type="body"/>
          </p:nvPr>
        </p:nvSpPr>
        <p:spPr>
          <a:xfrm>
            <a:off x="819150" y="1990725"/>
            <a:ext cx="3753000" cy="244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sz="2400">
                <a:solidFill>
                  <a:srgbClr val="000000"/>
                </a:solidFill>
              </a:rPr>
              <a:t>The mid-1990s brought CGI into mainstream art, beginning with fully 3D animated films. Artists shifted from drawing frames to building 3D models, rigging digital characters, and animating them in virtual environments, opening vast creative possibilities.</a:t>
            </a:r>
            <a:endParaRPr/>
          </a:p>
        </p:txBody>
      </p:sp>
      <p:pic>
        <p:nvPicPr>
          <p:cNvPr id="179" name="Google Shape;179;p20" title="JPEG image.jpeg"/>
          <p:cNvPicPr preferRelativeResize="0"/>
          <p:nvPr/>
        </p:nvPicPr>
        <p:blipFill>
          <a:blip r:embed="rId3">
            <a:alphaModFix/>
          </a:blip>
          <a:stretch>
            <a:fillRect/>
          </a:stretch>
        </p:blipFill>
        <p:spPr>
          <a:xfrm>
            <a:off x="5139400" y="692950"/>
            <a:ext cx="2699550" cy="4019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Digital </a:t>
            </a:r>
            <a:r>
              <a:rPr lang="en"/>
              <a:t>Illustration Tools</a:t>
            </a:r>
            <a:r>
              <a:rPr lang="en"/>
              <a:t> </a:t>
            </a:r>
            <a:endParaRPr/>
          </a:p>
        </p:txBody>
      </p:sp>
      <p:sp>
        <p:nvSpPr>
          <p:cNvPr id="185" name="Google Shape;185;p21"/>
          <p:cNvSpPr txBox="1"/>
          <p:nvPr>
            <p:ph idx="1" type="body"/>
          </p:nvPr>
        </p:nvSpPr>
        <p:spPr>
          <a:xfrm>
            <a:off x="819150" y="1800200"/>
            <a:ext cx="3753000" cy="244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sz="2400">
                <a:solidFill>
                  <a:srgbClr val="000000"/>
                </a:solidFill>
              </a:rPr>
              <a:t>Digital illustration tools such as Photoshop, Corel Painter, and Procreate changed art by offering layers, unlimited undo, and digital brushes. Tablets and touchscreens made digital painting intuitive, lowering barriers for new artists worldwide.</a:t>
            </a:r>
            <a:endParaRPr/>
          </a:p>
        </p:txBody>
      </p:sp>
      <p:pic>
        <p:nvPicPr>
          <p:cNvPr id="186" name="Google Shape;186;p21" title="JPEG image.jpeg"/>
          <p:cNvPicPr preferRelativeResize="0"/>
          <p:nvPr/>
        </p:nvPicPr>
        <p:blipFill>
          <a:blip r:embed="rId3">
            <a:alphaModFix/>
          </a:blip>
          <a:stretch>
            <a:fillRect/>
          </a:stretch>
        </p:blipFill>
        <p:spPr>
          <a:xfrm>
            <a:off x="4572150" y="1486550"/>
            <a:ext cx="4120825" cy="3086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Visual Effects &amp; Hybrid Art</a:t>
            </a:r>
            <a:endParaRPr/>
          </a:p>
        </p:txBody>
      </p:sp>
      <p:sp>
        <p:nvSpPr>
          <p:cNvPr id="192" name="Google Shape;192;p22"/>
          <p:cNvSpPr txBox="1"/>
          <p:nvPr>
            <p:ph idx="1" type="body"/>
          </p:nvPr>
        </p:nvSpPr>
        <p:spPr>
          <a:xfrm>
            <a:off x="819150" y="1990725"/>
            <a:ext cx="3890700" cy="2448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sz="2400">
                <a:solidFill>
                  <a:srgbClr val="000000"/>
                </a:solidFill>
              </a:rPr>
              <a:t>Modern art often blends live-action footage with CGI using green screens, motion capture, and advanced compositing. These hybrid methods combine traditional cinematography with digital effects to create immersive multimedia experiences.</a:t>
            </a:r>
            <a:endParaRPr/>
          </a:p>
        </p:txBody>
      </p:sp>
      <p:pic>
        <p:nvPicPr>
          <p:cNvPr id="193" name="Google Shape;193;p22" title="JPEG image.jpeg"/>
          <p:cNvPicPr preferRelativeResize="0"/>
          <p:nvPr/>
        </p:nvPicPr>
        <p:blipFill>
          <a:blip r:embed="rId3">
            <a:alphaModFix/>
          </a:blip>
          <a:stretch>
            <a:fillRect/>
          </a:stretch>
        </p:blipFill>
        <p:spPr>
          <a:xfrm>
            <a:off x="4862250" y="1952600"/>
            <a:ext cx="3612425" cy="2705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Internet Influence</a:t>
            </a:r>
            <a:endParaRPr/>
          </a:p>
        </p:txBody>
      </p:sp>
      <p:sp>
        <p:nvSpPr>
          <p:cNvPr id="199" name="Google Shape;199;p23"/>
          <p:cNvSpPr txBox="1"/>
          <p:nvPr>
            <p:ph idx="1" type="body"/>
          </p:nvPr>
        </p:nvSpPr>
        <p:spPr>
          <a:xfrm>
            <a:off x="819150" y="1990725"/>
            <a:ext cx="3890700" cy="2448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sz="2400">
                <a:solidFill>
                  <a:srgbClr val="000000"/>
                </a:solidFill>
              </a:rPr>
              <a:t>The internet transformed how art is shared and consumed. Artists now reach global audiences instantly, learn from online tutorials, collaborate internationally, and build careers through digital commissions and online marketplaces.</a:t>
            </a:r>
            <a:endParaRPr/>
          </a:p>
        </p:txBody>
      </p:sp>
      <p:pic>
        <p:nvPicPr>
          <p:cNvPr id="200" name="Google Shape;200;p23" title="JPEG image.jpeg"/>
          <p:cNvPicPr preferRelativeResize="0"/>
          <p:nvPr/>
        </p:nvPicPr>
        <p:blipFill>
          <a:blip r:embed="rId3">
            <a:alphaModFix/>
          </a:blip>
          <a:stretch>
            <a:fillRect/>
          </a:stretch>
        </p:blipFill>
        <p:spPr>
          <a:xfrm>
            <a:off x="4709850" y="1512475"/>
            <a:ext cx="4013850" cy="224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VR &amp; AR Art</a:t>
            </a:r>
            <a:endParaRPr/>
          </a:p>
        </p:txBody>
      </p:sp>
      <p:sp>
        <p:nvSpPr>
          <p:cNvPr id="206" name="Google Shape;206;p24"/>
          <p:cNvSpPr txBox="1"/>
          <p:nvPr>
            <p:ph idx="1" type="body"/>
          </p:nvPr>
        </p:nvSpPr>
        <p:spPr>
          <a:xfrm>
            <a:off x="819150" y="2065875"/>
            <a:ext cx="3753000" cy="2448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sz="2400">
                <a:solidFill>
                  <a:srgbClr val="000000"/>
                </a:solidFill>
              </a:rPr>
              <a:t>VR allows artists to create immersive 3D environments, while AR overlays digital art onto the real world. These technologies shift art from static images to interactive experiences that respond to viewer movement and space.</a:t>
            </a:r>
            <a:endParaRPr/>
          </a:p>
        </p:txBody>
      </p:sp>
      <p:pic>
        <p:nvPicPr>
          <p:cNvPr id="207" name="Google Shape;207;p24" title="JPEG image.jpeg"/>
          <p:cNvPicPr preferRelativeResize="0"/>
          <p:nvPr/>
        </p:nvPicPr>
        <p:blipFill>
          <a:blip r:embed="rId3">
            <a:alphaModFix/>
          </a:blip>
          <a:stretch>
            <a:fillRect/>
          </a:stretch>
        </p:blipFill>
        <p:spPr>
          <a:xfrm>
            <a:off x="4724550" y="1123550"/>
            <a:ext cx="4071350" cy="2505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Generative</a:t>
            </a:r>
            <a:r>
              <a:rPr lang="en"/>
              <a:t> &amp; AI Art</a:t>
            </a:r>
            <a:endParaRPr/>
          </a:p>
        </p:txBody>
      </p:sp>
      <p:sp>
        <p:nvSpPr>
          <p:cNvPr id="213" name="Google Shape;213;p25"/>
          <p:cNvSpPr txBox="1"/>
          <p:nvPr>
            <p:ph idx="1" type="body"/>
          </p:nvPr>
        </p:nvSpPr>
        <p:spPr>
          <a:xfrm>
            <a:off x="819150" y="2033950"/>
            <a:ext cx="3753000" cy="2448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sz="2400">
                <a:solidFill>
                  <a:srgbClr val="000000"/>
                </a:solidFill>
              </a:rPr>
              <a:t>AI tools can analyze artistic patterns and generate new imagery. While controversial, these systems help artists brainstorm, experiment quickly, and explore new concepts, raising questions about authorship and the role of human creativity.</a:t>
            </a:r>
            <a:endParaRPr/>
          </a:p>
        </p:txBody>
      </p:sp>
      <p:pic>
        <p:nvPicPr>
          <p:cNvPr id="214" name="Google Shape;214;p25" title="JPEG image.jpeg"/>
          <p:cNvPicPr preferRelativeResize="0"/>
          <p:nvPr/>
        </p:nvPicPr>
        <p:blipFill>
          <a:blip r:embed="rId3">
            <a:alphaModFix/>
          </a:blip>
          <a:stretch>
            <a:fillRect/>
          </a:stretch>
        </p:blipFill>
        <p:spPr>
          <a:xfrm>
            <a:off x="4733225" y="1564325"/>
            <a:ext cx="3990425" cy="2284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Cultural &amp; Creative Impact</a:t>
            </a:r>
            <a:endParaRPr/>
          </a:p>
        </p:txBody>
      </p:sp>
      <p:sp>
        <p:nvSpPr>
          <p:cNvPr id="220" name="Google Shape;220;p26"/>
          <p:cNvSpPr txBox="1"/>
          <p:nvPr>
            <p:ph idx="1" type="body"/>
          </p:nvPr>
        </p:nvSpPr>
        <p:spPr>
          <a:xfrm>
            <a:off x="819150" y="1990725"/>
            <a:ext cx="3753000" cy="2448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100"/>
              </a:spcAft>
              <a:buClr>
                <a:schemeClr val="dk1"/>
              </a:buClr>
              <a:buSzPct val="45833"/>
              <a:buFont typeface="Arial"/>
              <a:buNone/>
            </a:pPr>
            <a:r>
              <a:rPr lang="en" sz="2400">
                <a:solidFill>
                  <a:srgbClr val="000000"/>
                </a:solidFill>
              </a:rPr>
              <a:t>Technology expanded creative opportunities, democratized art tools, and enabled digital preservation. Yet it also introduced challenges like copyright concerns and rapid software changes that artists must continually adapt to.</a:t>
            </a:r>
            <a:endParaRPr/>
          </a:p>
        </p:txBody>
      </p:sp>
      <p:pic>
        <p:nvPicPr>
          <p:cNvPr id="221" name="Google Shape;221;p26" title="JPEG image.jpeg"/>
          <p:cNvPicPr preferRelativeResize="0"/>
          <p:nvPr/>
        </p:nvPicPr>
        <p:blipFill rotWithShape="1">
          <a:blip r:embed="rId3">
            <a:alphaModFix/>
          </a:blip>
          <a:srcRect b="13053" l="-2770" r="2769" t="14509"/>
          <a:stretch/>
        </p:blipFill>
        <p:spPr>
          <a:xfrm>
            <a:off x="4655400" y="1653675"/>
            <a:ext cx="4051325" cy="220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227" name="Google Shape;227;p27"/>
          <p:cNvSpPr txBox="1"/>
          <p:nvPr>
            <p:ph idx="1" type="body"/>
          </p:nvPr>
        </p:nvSpPr>
        <p:spPr>
          <a:xfrm>
            <a:off x="563725" y="1947500"/>
            <a:ext cx="3615000" cy="2448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sz="2400">
                <a:solidFill>
                  <a:srgbClr val="000000"/>
                </a:solidFill>
              </a:rPr>
              <a:t>The evolution from cel animation to digital and AI-driven art shows that while tools evolve, creativity remains essential. Technology broadens artistic potential, shaping the future of how people imagine, create, and experience art.</a:t>
            </a:r>
            <a:endParaRPr/>
          </a:p>
        </p:txBody>
      </p:sp>
      <p:pic>
        <p:nvPicPr>
          <p:cNvPr id="228" name="Google Shape;228;p27" title="JPEG image.jpeg"/>
          <p:cNvPicPr preferRelativeResize="0"/>
          <p:nvPr/>
        </p:nvPicPr>
        <p:blipFill>
          <a:blip r:embed="rId3">
            <a:alphaModFix/>
          </a:blip>
          <a:stretch>
            <a:fillRect/>
          </a:stretch>
        </p:blipFill>
        <p:spPr>
          <a:xfrm>
            <a:off x="4178725" y="845588"/>
            <a:ext cx="4605450" cy="25887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